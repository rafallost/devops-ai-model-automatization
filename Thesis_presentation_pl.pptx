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72" r:id="rId4"/>
    <p:sldMasterId id="2147483684" r:id="rId5"/>
  </p:sldMasterIdLst>
  <p:notesMasterIdLst>
    <p:notesMasterId r:id="rId24"/>
  </p:notesMasterIdLst>
  <p:sldIdLst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8" r:id="rId16"/>
    <p:sldId id="272" r:id="rId17"/>
    <p:sldId id="275" r:id="rId18"/>
    <p:sldId id="277" r:id="rId19"/>
    <p:sldId id="271" r:id="rId20"/>
    <p:sldId id="276" r:id="rId21"/>
    <p:sldId id="273" r:id="rId22"/>
    <p:sldId id="274" r:id="rId23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7EC"/>
    <a:srgbClr val="C9D6C0"/>
    <a:srgbClr val="DDEAD4"/>
    <a:srgbClr val="F4F8F1"/>
    <a:srgbClr val="2B7509"/>
    <a:srgbClr val="EAF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B0574-1B9E-4493-ACF1-C8FD06A0E51E}" v="200" dt="2026-03-07T21:30:42.919"/>
    <p1510:client id="{BF3888F2-B939-96D0-200C-3DF507F5B14F}" v="128" dt="2026-03-07T22:04:31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99" d="100"/>
          <a:sy n="99" d="100"/>
        </p:scale>
        <p:origin x="115" y="115"/>
      </p:cViewPr>
      <p:guideLst>
        <p:guide orient="horz" pos="2380"/>
        <p:guide pos="42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A22F5EEC-6C1F-6948-4336-A5B719EEE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0E9DFB5-C157-FA0C-EAEE-C584E5FE92B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en-US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en-US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en-US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4820155-2ACC-487B-833B-78EAF784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6176F3-DE2C-4D9D-AC25-B5E68E8D2D62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E4B99A4-613E-FCB9-611C-552AF384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26C92D2-F305-2061-F9C4-13ED061C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6AB9B4-5AE0-46CD-900D-63363A097E66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173927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B2FBF-76FF-5905-9CEF-E4CD2112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6B966-0E19-4E0B-B313-3F7F95F7EA6E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1D760-991B-99FE-6758-A4419ECD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D03E7-2E43-6C1D-7A10-0C891344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31842-69D6-47DA-B2CE-51E2F2F66DD7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9450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FD99-DD1F-3B2E-DF6B-5E295175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10EAE-7138-44F4-BE55-811BCFB3299D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A597-B4CE-C2D5-1D97-72E290B5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0A59B-B42F-F604-820E-242F1E03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BBB75-47FF-4FFC-A865-618CCAAEE191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28061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6F93E0-7CD8-7B1B-EE83-996CD586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7E6F3-A64D-4498-A435-9D0B14C9079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F848B7-0F9F-0242-9340-20ADC0998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CC314D-8303-71A1-522D-2DCB6C6B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67CCB-2BDF-4E26-ACB3-BDB7E51842D0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911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143A7B-2769-7B00-19B8-C7A31D56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8336B-60DE-49B8-BB29-021057267825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A1AB31A-5A0B-6B6A-5883-5CBDDB66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C3E124F-26D2-FEDF-6BED-F0E03161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5B6EF-1289-4F21-BACB-949944628AB0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8891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EF47C50-DF82-7D1D-FEF1-EC75C8AA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2A310-5C4C-4FF5-9FFA-021CA528F178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02B0A0-CBE3-6BA0-4C5D-1C521A8E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487267-DDF9-CA5E-3492-13660358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200A6-598B-4EB9-AF82-AC0C6CCCA48D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5533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54BBBEB-F4D5-4C77-88A9-AAD819B6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1166C-6FCF-486B-90BB-1FD05D479E6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C4CA6-2793-650E-6529-B093D0A9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CC541E-59F7-DAE1-4539-2C78146E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A80C4-A6B1-4578-B206-BA9C45C1BB27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263206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A74D43C-6ED9-0364-2503-82E3C2A4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86C7C-0EC9-4DA2-B395-1E2926031343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55AA5D-ECB9-7269-A175-598842EF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7B4F9A-0D70-145F-8895-2A88DCD3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B4B0F-E377-4E83-B167-745DF6CD9F4A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89673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51530F-9172-F73B-5C15-B7E1449A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2B09D-6884-4321-A311-3F2F2EE90E70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5CC419F-A3FF-CCB7-EEDC-773BA720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634D54-54C5-C9CF-7EA9-17E820A9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9C892-D322-4F0E-AA81-9B45EA2FB47C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15744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E2DC-FCE3-A358-4D44-D2B4E974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8D156-24E5-4A56-9A42-23D17A934573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334D9-AC19-5313-B2DB-F82AB7AF7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169A-9BF4-2F0A-F03E-C0EDF07B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F01BF-961D-428C-A795-91533FE3E74C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12998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0F940-9AFC-3042-DE7B-1E5F4198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88DEE-9A53-4BD6-81AB-5FB67C3E54C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2F467-E664-C1FD-1E2D-847AE342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3DF5C-15B2-B7E5-6AA6-8DC9B2BD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A99F8-82B4-4E04-9DC5-7E7B29368653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590682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4BFD0-ABB8-1A31-B0BC-7683C068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C605E-60AB-4CF4-A31C-81DFA4B64AF5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20FCB-3A9B-32A3-A317-301791E2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C69D7-5467-4BE7-B39F-19C90A15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C44BC-21C4-40BD-A168-90F6E7CE34B8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17390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A7C6-4CA9-1F69-673C-EA1109C6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DFB20-BF0D-4B7F-9AA2-0D3EDFDC954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5BDEA-81E9-328C-19CF-68E845B5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2CF71-F28F-FB34-FA4F-898D8237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8E1DF-44FC-45AD-8826-7161C511640C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879511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C9EAA-619A-4B2E-D44B-DD1F2908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B4026-6B24-4F73-8856-5F9F16C172B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5C4BB-9C5E-76A1-F63A-92D649EA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BF4E-F4F5-D672-4F6B-FEC95A35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BDB68-20BE-4728-85C1-37C994913218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997614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CAC4068-EE73-43D2-B908-50239B64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D7901-0224-4C20-87F8-B7965C055BCE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85A02D-152C-0B2B-7F60-6DAF890A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C8A1DE-5A7C-CF6E-7153-77A45D91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78539-8F9D-4411-A3D0-5D901F633A55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01694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A8E1E80-CFD3-07CA-A43F-D6F71F66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1228A-8CE4-447E-A156-23314AA49D1F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080D1A-4DA4-9E8C-527F-43F03C22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C77FD7-210B-C970-8E0E-A249EFE0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50537-5B85-4C2E-B8FA-025ACABC7EA7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335760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239321-3E46-032B-25EB-58BB30D8F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D86C5-0D34-4B81-9DA5-FF6E54703838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A67EFF-57B4-3C26-568F-EFC9254E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54CC9F-BC5D-D08E-8D47-9C82B79E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3574F-D1ED-4AC1-9CA9-F5D3EECB18BB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449469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F9894D-C8E8-7288-B67B-B0C0C9B7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E7D65-4D5C-42E7-9211-40336A46019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71BC96-1198-58EB-C46B-61CA3ECD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891485-0BC8-2568-4CD7-53F6F3D8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641A3-53CF-4BFC-BCD2-C800A0FE0F63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068663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7D83F5-9EA6-9EB1-E125-ABC97DF8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FE74A-D9D2-4C55-A149-7C023B6C4EAC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C2306F3-B1F9-1579-8C8B-33D195C8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6FBCB5-5DA4-5C1F-B861-62E6E33F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7C392-DE8F-40CE-8693-DD7F8385B045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666135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6020FF7-7F94-F54B-8A01-9A64859D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10FB3-383F-43BE-9513-BCE1244E797C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37E71B-E4D7-AD14-A079-08593CE5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515011-72D5-9B76-5D20-17988EA3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4D01D-AA79-44E1-95FE-90A3A8EFF61D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53132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E5BEB-4072-1CD5-26E3-D93BE3BE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AA31B-D265-403C-8D4C-04E92360350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6BBB6-6388-CC97-04D8-9B813F6E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0880B-0D89-57CE-A2CE-BD80813D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D2DF2-35FC-4D68-A09B-123533D9D4DD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724776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094F-EAD8-AB1B-FD61-5A802E65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D748B-DE05-4A81-9CF4-9852277904CD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1ED01-11FC-85E0-101F-9E78BD09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A92F8-4659-28C5-BE9D-79E24276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F4D4B-BEDF-4700-9CA0-F1876FDE2697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5431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29A654F-A3A7-9505-3DC3-407078226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3E688CC-E9E8-38A1-0127-7E2DDDF72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3E68-7CBE-B0EA-569A-C0DEAEC1D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1843FA3-9C8E-4707-9FCC-5548D59DAC47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637D0-28F8-89AF-8752-BE8DCC865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09.03.2026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EDA5-1AEA-E8FF-5BA1-543B99E2F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86AB9B4-5AE0-46CD-900D-63363A097E66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3CF870F6-1890-3C97-527C-C809C00B0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42C7583-59E5-F9C0-C2B2-ED62E0E55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C68D5-599F-F65D-AFBA-3AB7F7576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16CC3B6-94AF-42E4-B67F-2571B1AF1618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079D1-AC82-B1BB-3CCB-7018C1258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F20E1-D477-5B2F-4A3D-E49CF6E08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441F4C5-6246-4A8F-AEC5-520AA0ED0851}" type="slidenum">
              <a:rPr lang="en-US" altLang="pl-PL"/>
              <a:pPr>
                <a:defRPr/>
              </a:pPr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dt="0"/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228BA2AD-FBA8-F6E9-1C3B-939FFA44BC20}"/>
              </a:ext>
            </a:extLst>
          </p:cNvPr>
          <p:cNvSpPr>
            <a:spLocks/>
          </p:cNvSpPr>
          <p:nvPr/>
        </p:nvSpPr>
        <p:spPr bwMode="auto">
          <a:xfrm>
            <a:off x="740049" y="3058170"/>
            <a:ext cx="950505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pl-PL" altLang="pl-PL" sz="2800" dirty="0"/>
              <a:t>Wykorzystanie technik DevOps w implementacji automatycznego procesu CI/CD do uczenia i wersjonowania modeli sztucznej inteligencji:</a:t>
            </a:r>
          </a:p>
          <a:p>
            <a:pPr eaLnBrk="1"/>
            <a:r>
              <a:rPr lang="pl-PL" altLang="pl-PL" sz="2800" dirty="0"/>
              <a:t>analiza utrzymania systemów wykorzystujących sztuczną inteligencję w porównaniu do metod manualnych </a:t>
            </a:r>
            <a:endParaRPr lang="en-US" altLang="pl-PL" sz="2800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4C534DD7-0026-D746-BB6C-79BC05406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49" y="5304939"/>
            <a:ext cx="3888432" cy="936104"/>
          </a:xfrm>
        </p:spPr>
        <p:txBody>
          <a:bodyPr/>
          <a:lstStyle/>
          <a:p>
            <a:pPr algn="l"/>
            <a:r>
              <a:rPr lang="pl-PL" sz="2000" dirty="0"/>
              <a:t>Autor: Rafał Zabłotni</a:t>
            </a:r>
            <a:br>
              <a:rPr lang="pl-PL" sz="2000" dirty="0"/>
            </a:br>
            <a:r>
              <a:rPr lang="pl-PL" sz="2000" dirty="0"/>
              <a:t>Kierunek: Inżynieria Obliczeniowa</a:t>
            </a:r>
            <a:br>
              <a:rPr lang="pl-PL" sz="2000" dirty="0"/>
            </a:br>
            <a:r>
              <a:rPr lang="pl-PL" sz="2000" dirty="0"/>
              <a:t>Promotor: mgr inż. Piotr </a:t>
            </a:r>
            <a:r>
              <a:rPr lang="pl-PL" sz="2000" dirty="0" err="1"/>
              <a:t>Hajder</a:t>
            </a:r>
            <a:endParaRPr lang="en-US" sz="2000" dirty="0"/>
          </a:p>
          <a:p>
            <a:pPr algn="l"/>
            <a:endParaRPr lang="pl-PL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735D23-4768-0FE1-7F1F-0FA1D9EA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0049" y="6241043"/>
            <a:ext cx="1080120" cy="401638"/>
          </a:xfrm>
        </p:spPr>
        <p:txBody>
          <a:bodyPr/>
          <a:lstStyle/>
          <a:p>
            <a:pPr>
              <a:defRPr/>
            </a:pPr>
            <a:r>
              <a:rPr lang="en-US"/>
              <a:t>09.03.2026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2749AC-A4B6-5FE2-7AD7-9C11B315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6AB9B4-5AE0-46CD-900D-63363A097E66}" type="slidenum">
              <a:rPr lang="en-US" altLang="pl-PL" smtClean="0"/>
              <a:pPr>
                <a:defRPr/>
              </a:pPr>
              <a:t>1</a:t>
            </a:fld>
            <a:endParaRPr lang="en-US" altLang="pl-PL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8F33-AA3F-AD9B-9B78-1E8228A4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Problematyka i cel pracy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5CC1-6867-3DA6-2A99-46262E8C5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000" y="2258095"/>
            <a:ext cx="5794711" cy="470743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Problematyka: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B33E51-7FE8-37DE-6529-18C77E14F8AC}"/>
              </a:ext>
            </a:extLst>
          </p:cNvPr>
          <p:cNvSpPr txBox="1">
            <a:spLocks/>
          </p:cNvSpPr>
          <p:nvPr/>
        </p:nvSpPr>
        <p:spPr bwMode="auto">
          <a:xfrm>
            <a:off x="921999" y="3091560"/>
            <a:ext cx="5794711" cy="317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0825" indent="-250825" algn="l" defTabSz="1006475" rtl="0" eaLnBrk="0" fontAlgn="base" hangingPunct="0">
              <a:lnSpc>
                <a:spcPct val="90000"/>
              </a:lnSpc>
              <a:spcBef>
                <a:spcPts val="1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063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2125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5363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0586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4329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8072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1815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Modele sztucznej inteligencji wymagają regularnego ponownego trenowania, oceny jakości oraz wdrażania nowych wersji.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Manualne podejście jest proste koncepcyjnie, ale utrudnia powtarzalność eksperymentów, zwiększa ryzyko błędów oraz wymaga znacznego nakładu pracy.</a:t>
            </a: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AC4D92-6471-E582-C187-F35BC6CB574A}"/>
              </a:ext>
            </a:extLst>
          </p:cNvPr>
          <p:cNvSpPr txBox="1">
            <a:spLocks/>
          </p:cNvSpPr>
          <p:nvPr/>
        </p:nvSpPr>
        <p:spPr bwMode="auto">
          <a:xfrm>
            <a:off x="6744839" y="2258095"/>
            <a:ext cx="5794711" cy="470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0825" indent="-250825" algn="l" defTabSz="1006475" rtl="0" eaLnBrk="0" fontAlgn="base" hangingPunct="0">
              <a:lnSpc>
                <a:spcPct val="90000"/>
              </a:lnSpc>
              <a:spcBef>
                <a:spcPts val="1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063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2125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5363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0586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4329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8072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1815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dirty="0"/>
              <a:t>Cel pracy: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A987C9-9F30-E18B-57E3-C28DDE6AA00E}"/>
              </a:ext>
            </a:extLst>
          </p:cNvPr>
          <p:cNvSpPr txBox="1">
            <a:spLocks/>
          </p:cNvSpPr>
          <p:nvPr/>
        </p:nvSpPr>
        <p:spPr bwMode="auto">
          <a:xfrm>
            <a:off x="6744839" y="3091561"/>
            <a:ext cx="6236569" cy="317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0825" indent="-250825" algn="l" defTabSz="1006475" rtl="0" eaLnBrk="0" fontAlgn="base" hangingPunct="0">
              <a:lnSpc>
                <a:spcPct val="90000"/>
              </a:lnSpc>
              <a:spcBef>
                <a:spcPts val="1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063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2125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5363" indent="-250825" algn="l" defTabSz="1006475" rtl="0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0586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4329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8072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1815" indent="-251871" algn="l" defTabSz="1007486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Zaprojektowanie potoku (ang. pipeline’u) CI/CD dla modeli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Automatyzacja treningu i wdrażania modeli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Wersjonowanie danych i eksperymentów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Porównanie podejścia manualnego i automatycznego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B834BA-CE8F-59D0-C397-74B5D3D2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915FB4-8828-0B49-CDE6-AE9BDB79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2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96819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B44E1-02FE-CBF2-333C-807755FF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Wykonanie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5A867-14CE-B1F3-29E3-07ABCDDE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A62A48-FEF5-AD24-08EE-0BF22FA3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DBDB68-20BE-4728-85C1-37C994913218}" type="slidenum">
              <a:rPr lang="en-US" altLang="pl-PL" smtClean="0"/>
              <a:pPr>
                <a:defRPr/>
              </a:pPr>
              <a:t>3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88187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C0E765-C31A-8415-C768-DA2949C3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Model sztucznej inteligencji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F7D3FE-A5B2-E080-5740-1315E363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4129014"/>
            <a:ext cx="11585575" cy="2019251"/>
          </a:xfrm>
        </p:spPr>
        <p:txBody>
          <a:bodyPr/>
          <a:lstStyle/>
          <a:p>
            <a:r>
              <a:rPr lang="pl-PL" sz="2000" dirty="0"/>
              <a:t>Model segmentacji obrazów wodomierzy oparty na architekturze U-Net.</a:t>
            </a:r>
          </a:p>
          <a:p>
            <a:r>
              <a:rPr lang="pl-PL" sz="2000" dirty="0"/>
              <a:t>Zadaniem modelu jest </a:t>
            </a:r>
            <a:r>
              <a:rPr lang="pl-PL" sz="2000" b="1" dirty="0"/>
              <a:t>identyfikacja obszaru tarczy wodomierza </a:t>
            </a:r>
            <a:r>
              <a:rPr lang="pl-PL" sz="2000" dirty="0"/>
              <a:t>na zdjęciu.</a:t>
            </a:r>
          </a:p>
          <a:p>
            <a:r>
              <a:rPr lang="pl-PL" sz="2000" dirty="0"/>
              <a:t>Jako metryki oceny jakości zastosowano współczynnik </a:t>
            </a:r>
            <a:r>
              <a:rPr lang="pl-PL" sz="2000" b="1" dirty="0" err="1"/>
              <a:t>Dice</a:t>
            </a:r>
            <a:r>
              <a:rPr lang="pl-PL" sz="2000" dirty="0"/>
              <a:t> </a:t>
            </a:r>
            <a:r>
              <a:rPr lang="pl-PL" sz="2000" b="1" dirty="0"/>
              <a:t>oraz </a:t>
            </a:r>
            <a:r>
              <a:rPr lang="pl-PL" sz="2000" b="1" dirty="0" err="1"/>
              <a:t>Intersection</a:t>
            </a:r>
            <a:r>
              <a:rPr lang="pl-PL" sz="2000" b="1" dirty="0"/>
              <a:t> </a:t>
            </a:r>
            <a:r>
              <a:rPr lang="pl-PL" sz="2000" b="1" dirty="0" err="1"/>
              <a:t>over</a:t>
            </a:r>
            <a:r>
              <a:rPr lang="pl-PL" sz="2000" b="1" dirty="0"/>
              <a:t> Union</a:t>
            </a:r>
          </a:p>
          <a:p>
            <a:r>
              <a:rPr lang="pl-PL" sz="2000" dirty="0">
                <a:ea typeface="+mn-lt"/>
                <a:cs typeface="+mn-lt"/>
              </a:rPr>
              <a:t>Dane treningowe pochodziły z </a:t>
            </a:r>
            <a:r>
              <a:rPr lang="pl-PL" sz="2000" dirty="0" err="1">
                <a:ea typeface="+mn-lt"/>
                <a:cs typeface="+mn-lt"/>
              </a:rPr>
              <a:t>Kaggle</a:t>
            </a:r>
            <a:r>
              <a:rPr lang="pl-PL" sz="2000" dirty="0">
                <a:ea typeface="+mn-lt"/>
                <a:cs typeface="+mn-lt"/>
              </a:rPr>
              <a:t> i były rozszerzane za pomocą losowych augmentacji, takich jak obrót, odbicie lustrzane i zmiana jasności, co poprawiało zdolność modelu do generalizacji.</a:t>
            </a:r>
            <a:endParaRPr lang="pl-PL" dirty="0">
              <a:ea typeface="+mn-lt"/>
              <a:cs typeface="+mn-lt"/>
            </a:endParaRPr>
          </a:p>
          <a:p>
            <a:endParaRPr lang="pl-PL" sz="2000" dirty="0"/>
          </a:p>
        </p:txBody>
      </p:sp>
      <p:pic>
        <p:nvPicPr>
          <p:cNvPr id="6" name="Picture 5" descr="A black square with white line&#10;&#10;Description automatically generated">
            <a:extLst>
              <a:ext uri="{FF2B5EF4-FFF2-40B4-BE49-F238E27FC236}">
                <a16:creationId xmlns:a16="http://schemas.microsoft.com/office/drawing/2014/main" id="{FCC5611A-8111-B6DE-5CCF-8AE5409C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864" y="1482926"/>
            <a:ext cx="7867696" cy="257442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0E84E0-D90F-4D02-7E41-EA38CF00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F4EE23-3455-7CA7-8D9E-DE360767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4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74805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DFA7-54CE-5405-4A35-2A7545D4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Architektura systemu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D3C22-AA89-1BB2-F1CF-517A4354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23667-0178-7A83-DEC8-463E7C78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5</a:t>
            </a:fld>
            <a:endParaRPr lang="en-US" altLang="pl-PL"/>
          </a:p>
        </p:txBody>
      </p:sp>
      <p:pic>
        <p:nvPicPr>
          <p:cNvPr id="8" name="Content Placeholder 7" descr="A diagram of a company&#10;&#10;Description automatically generated">
            <a:extLst>
              <a:ext uri="{FF2B5EF4-FFF2-40B4-BE49-F238E27FC236}">
                <a16:creationId xmlns:a16="http://schemas.microsoft.com/office/drawing/2014/main" id="{9A93EC17-F9CF-532A-D1C8-C903216AE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548" y="1546002"/>
            <a:ext cx="10042328" cy="5267875"/>
          </a:xfrm>
        </p:spPr>
      </p:pic>
    </p:spTree>
    <p:extLst>
      <p:ext uri="{BB962C8B-B14F-4D97-AF65-F5344CB8AC3E}">
        <p14:creationId xmlns:p14="http://schemas.microsoft.com/office/powerpoint/2010/main" val="58720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BEBA-59D8-8108-431E-D3774C44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Pipeline CI/CD dla modeli AI</a:t>
            </a:r>
            <a:endParaRPr lang="pl-PL" dirty="0"/>
          </a:p>
        </p:txBody>
      </p:sp>
      <p:pic>
        <p:nvPicPr>
          <p:cNvPr id="4" name="Picture 3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389389B1-6FFA-4650-38CB-FC4645FF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10" y="1481514"/>
            <a:ext cx="11166804" cy="3274137"/>
          </a:xfrm>
          <a:prstGeom prst="rect">
            <a:avLst/>
          </a:prstGeom>
        </p:spPr>
      </p:pic>
      <p:graphicFrame>
        <p:nvGraphicFramePr>
          <p:cNvPr id="5" name="Table 89">
            <a:extLst>
              <a:ext uri="{FF2B5EF4-FFF2-40B4-BE49-F238E27FC236}">
                <a16:creationId xmlns:a16="http://schemas.microsoft.com/office/drawing/2014/main" id="{BD2FDBA8-87CD-8D08-3F0F-F9463F92D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548372"/>
              </p:ext>
            </p:extLst>
          </p:nvPr>
        </p:nvGraphicFramePr>
        <p:xfrm>
          <a:off x="812056" y="4786362"/>
          <a:ext cx="11809311" cy="193318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476164">
                  <a:extLst>
                    <a:ext uri="{9D8B030D-6E8A-4147-A177-3AD203B41FA5}">
                      <a16:colId xmlns:a16="http://schemas.microsoft.com/office/drawing/2014/main" val="4242844733"/>
                    </a:ext>
                  </a:extLst>
                </a:gridCol>
                <a:gridCol w="1472056">
                  <a:extLst>
                    <a:ext uri="{9D8B030D-6E8A-4147-A177-3AD203B41FA5}">
                      <a16:colId xmlns:a16="http://schemas.microsoft.com/office/drawing/2014/main" val="625100063"/>
                    </a:ext>
                  </a:extLst>
                </a:gridCol>
                <a:gridCol w="1480271">
                  <a:extLst>
                    <a:ext uri="{9D8B030D-6E8A-4147-A177-3AD203B41FA5}">
                      <a16:colId xmlns:a16="http://schemas.microsoft.com/office/drawing/2014/main" val="1391758385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1213568817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2734454245"/>
                    </a:ext>
                  </a:extLst>
                </a:gridCol>
                <a:gridCol w="1404157">
                  <a:extLst>
                    <a:ext uri="{9D8B030D-6E8A-4147-A177-3AD203B41FA5}">
                      <a16:colId xmlns:a16="http://schemas.microsoft.com/office/drawing/2014/main" val="3735025403"/>
                    </a:ext>
                  </a:extLst>
                </a:gridCol>
                <a:gridCol w="1548171">
                  <a:extLst>
                    <a:ext uri="{9D8B030D-6E8A-4147-A177-3AD203B41FA5}">
                      <a16:colId xmlns:a16="http://schemas.microsoft.com/office/drawing/2014/main" val="2572831604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1707669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1: 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merge</a:t>
                      </a: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-and-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validate</a:t>
                      </a:r>
                      <a:endParaRPr lang="pl-PL" sz="1200" kern="120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2: start-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infra</a:t>
                      </a:r>
                      <a:endParaRPr lang="pl-PL" sz="1200" kern="120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3: 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train</a:t>
                      </a:r>
                      <a:endParaRPr lang="pl-PL" sz="1200" kern="120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4: stop-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infra</a:t>
                      </a:r>
                      <a:endParaRPr lang="pl-PL" sz="1200" kern="120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5: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6: stop-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after</a:t>
                      </a: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-deploy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7: 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create-pr</a:t>
                      </a:r>
                      <a:endParaRPr lang="pl-PL" sz="1200" kern="120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kern="1200" cap="all" spc="1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Job 8: auto-</a:t>
                      </a:r>
                      <a:r>
                        <a:rPr lang="pl-PL" sz="1200" kern="1200" cap="all" spc="1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merge</a:t>
                      </a:r>
                      <a:endParaRPr lang="pl-PL" sz="1200" kern="120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67266"/>
                  </a:ext>
                </a:extLst>
              </a:tr>
              <a:tr h="147598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Scalenie nowych danych z istniejącym zbiorem i walidacja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Uruchomienie instancji EC2 i oczekiwanie na dostępność </a:t>
                      </a:r>
                      <a:r>
                        <a:rPr lang="pl-PL" sz="1400" kern="1200" spc="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self-hosted</a:t>
                      </a:r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l-PL" sz="1400" kern="1200" spc="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runner’a</a:t>
                      </a:r>
                      <a:endParaRPr lang="pl-PL" sz="1400" kern="1200" spc="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Trening modelu oraz ocena przez bramkę jakości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Zatrzymanie EC2 po błędzie lub braku poprawy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Budowa obrazu, publikacja do ECR i wdrożenie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Zatrzymanie EC2 po zakończonym wdrożeniu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Utworzenie PR z metrykami i aktualizacją DVC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Włączenie automatycznego scalenia </a:t>
                      </a:r>
                      <a:r>
                        <a:rPr lang="pl-PL" sz="1400" kern="1200" spc="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pull</a:t>
                      </a:r>
                      <a:r>
                        <a:rPr lang="pl-PL" sz="1400" kern="1200" spc="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l-PL" sz="1400" kern="1200" spc="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request’a</a:t>
                      </a:r>
                      <a:endParaRPr lang="pl-PL" sz="1400" kern="1200" spc="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34782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AD502-890C-11F9-F0A5-8C00CE94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BBC31-9F8D-6D84-A001-43FCFCF7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6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42039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DF60-924C-4736-C5B1-FA5EC64B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Pipeline CI/CD</a:t>
            </a:r>
            <a:r>
              <a:rPr lang="pl-PL" dirty="0"/>
              <a:t> – Udany trening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DBE2B0-C2EC-31B9-408C-F9D1C780D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209" y="1546002"/>
            <a:ext cx="9801006" cy="525314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39269-DA29-2EDF-0590-63E7B5AA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FB0B0-28B8-A4EE-8D99-D7023A8DC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7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91307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DF60-924C-4736-C5B1-FA5EC64B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Pipeline CI/CD</a:t>
            </a:r>
            <a:r>
              <a:rPr lang="pl-PL" dirty="0"/>
              <a:t> – </a:t>
            </a:r>
            <a:r>
              <a:rPr lang="pl-PL" dirty="0" err="1"/>
              <a:t>Pull</a:t>
            </a:r>
            <a:r>
              <a:rPr lang="pl-PL" dirty="0"/>
              <a:t> </a:t>
            </a:r>
            <a:r>
              <a:rPr lang="pl-PL" dirty="0" err="1"/>
              <a:t>request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C862D-CD78-CEB3-3593-132C4463B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80" y="1762026"/>
            <a:ext cx="4661750" cy="4803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BC688A-048F-C5F2-13FC-BB266CA14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648" y="2935251"/>
            <a:ext cx="6680871" cy="245712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BDAC4-922F-5C7C-B483-C5955BB8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CF1B4-7A2C-A6FB-14A2-814783BF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8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52195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DF60-924C-4736-C5B1-FA5EC64B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Pipeline CI/CD</a:t>
            </a:r>
            <a:r>
              <a:rPr lang="pl-PL" dirty="0"/>
              <a:t> – Aplikacja</a:t>
            </a:r>
          </a:p>
        </p:txBody>
      </p:sp>
      <p:pic>
        <p:nvPicPr>
          <p:cNvPr id="7" name="Picture 6" descr="A screenshot of a web page&#10;&#10;Description automatically generated">
            <a:extLst>
              <a:ext uri="{FF2B5EF4-FFF2-40B4-BE49-F238E27FC236}">
                <a16:creationId xmlns:a16="http://schemas.microsoft.com/office/drawing/2014/main" id="{3081D29D-0F79-B3EE-1685-87559A94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676" y="1546002"/>
            <a:ext cx="5804072" cy="515063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FEB07-3589-60FC-2E1E-926CDE34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1172F-70CE-AE7C-CD3A-29D5489D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9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1677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B44E1-02FE-CBF2-333C-807755FF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i wnioski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3DDB6D-74ED-E897-0742-DC7954FF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7E6577-7608-C4ED-06FE-A065DF37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DBDB68-20BE-4728-85C1-37C994913218}" type="slidenum">
              <a:rPr lang="en-US" altLang="pl-PL" smtClean="0"/>
              <a:pPr>
                <a:defRPr/>
              </a:pPr>
              <a:t>10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37113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9D48-E217-8428-D94C-DDE7733D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>
                <a:ea typeface="Calibri Light"/>
                <a:cs typeface="Calibri Light"/>
              </a:rPr>
              <a:t>Ocena jakości najlepszego modelu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B553F-6C8E-8395-353D-75E6197E3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l-PL" sz="2000" b="0" dirty="0">
                <a:ea typeface="Calibri"/>
                <a:cs typeface="Calibri"/>
              </a:rPr>
              <a:t>Współczynnik </a:t>
            </a:r>
            <a:r>
              <a:rPr lang="pl-PL" sz="2000" b="0" dirty="0" err="1">
                <a:ea typeface="Calibri"/>
                <a:cs typeface="Calibri"/>
              </a:rPr>
              <a:t>Dice</a:t>
            </a:r>
            <a:r>
              <a:rPr lang="pl-PL" sz="2000" b="0" dirty="0">
                <a:ea typeface="Calibri"/>
                <a:cs typeface="Calibri"/>
              </a:rPr>
              <a:t> na poziomie 0,8134 potwierdza wysoką zgodność segmentacji modelu z danymi referencyjnymi.</a:t>
            </a:r>
            <a:endParaRPr lang="en-US" sz="2000" b="0" dirty="0">
              <a:ea typeface="Calibri"/>
              <a:cs typeface="Calibri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AB41E00-1BA8-7D4F-E928-23EAE7E6BB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925298" y="3014230"/>
            <a:ext cx="5682819" cy="3551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DE0D6-8413-C428-E9FA-8632416E7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pl-PL" sz="2000" b="0" dirty="0">
                <a:ea typeface="Calibri"/>
                <a:cs typeface="Calibri"/>
              </a:rPr>
              <a:t>Współczynnik </a:t>
            </a:r>
            <a:r>
              <a:rPr lang="pl-PL" sz="2000" b="0" dirty="0" err="1">
                <a:ea typeface="Calibri"/>
                <a:cs typeface="Calibri"/>
              </a:rPr>
              <a:t>IoU</a:t>
            </a:r>
            <a:r>
              <a:rPr lang="pl-PL" sz="2000" b="0" dirty="0">
                <a:ea typeface="Calibri"/>
                <a:cs typeface="Calibri"/>
              </a:rPr>
              <a:t> na poziomie 0,7409 wskazuje na dobrą jakość predykcji i poprawne odwzorowanie obszaru obiektu.</a:t>
            </a:r>
            <a:endParaRPr lang="en-US" sz="2000" b="0" dirty="0">
              <a:ea typeface="Calibri"/>
              <a:cs typeface="Calibri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C7A107A-7F03-95EF-FA83-886BE379B6E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800672" y="3005484"/>
            <a:ext cx="5710805" cy="356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9B143-409C-680C-3907-7F92D13D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BC7B-F16F-4D61-A105-340DB326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F50537-5B85-4C2E-B8FA-025ACABC7EA7}" type="slidenum">
              <a:rPr lang="en-US" altLang="pl-PL" smtClean="0"/>
              <a:pPr>
                <a:defRPr/>
              </a:pPr>
              <a:t>11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382510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0431-814E-9EDE-562A-D93F2B9A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Porównanie wymaganej pracy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FED6E5-0064-7692-2D13-159EAA3CF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143740"/>
              </p:ext>
            </p:extLst>
          </p:nvPr>
        </p:nvGraphicFramePr>
        <p:xfrm>
          <a:off x="740048" y="1546002"/>
          <a:ext cx="11953328" cy="31875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837864">
                  <a:extLst>
                    <a:ext uri="{9D8B030D-6E8A-4147-A177-3AD203B41FA5}">
                      <a16:colId xmlns:a16="http://schemas.microsoft.com/office/drawing/2014/main" val="3820003045"/>
                    </a:ext>
                  </a:extLst>
                </a:gridCol>
                <a:gridCol w="2429440">
                  <a:extLst>
                    <a:ext uri="{9D8B030D-6E8A-4147-A177-3AD203B41FA5}">
                      <a16:colId xmlns:a16="http://schemas.microsoft.com/office/drawing/2014/main" val="3077450596"/>
                    </a:ext>
                  </a:extLst>
                </a:gridCol>
                <a:gridCol w="4686024">
                  <a:extLst>
                    <a:ext uri="{9D8B030D-6E8A-4147-A177-3AD203B41FA5}">
                      <a16:colId xmlns:a16="http://schemas.microsoft.com/office/drawing/2014/main" val="142035111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Etap</a:t>
                      </a:r>
                      <a:endParaRPr lang="pl-PL" sz="2000" b="0" dirty="0"/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Manualnie</a:t>
                      </a:r>
                      <a:endParaRPr lang="pl-PL" sz="2000" b="1" dirty="0"/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Zautomatyzowane CI/CD</a:t>
                      </a:r>
                      <a:endParaRPr lang="pl-PL" sz="2000" b="1" dirty="0"/>
                    </a:p>
                  </a:txBody>
                  <a:tcPr>
                    <a:solidFill>
                      <a:srgbClr val="2B75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6009"/>
                  </a:ext>
                </a:extLst>
              </a:tr>
              <a:tr h="413843">
                <a:tc>
                  <a:txBody>
                    <a:bodyPr/>
                    <a:lstStyle/>
                    <a:p>
                      <a:r>
                        <a:rPr lang="pl-PL" sz="2000" b="0" dirty="0"/>
                        <a:t>Przygotowanie i </a:t>
                      </a:r>
                      <a:r>
                        <a:rPr lang="pl-PL" sz="2000" b="0" dirty="0" err="1"/>
                        <a:t>upload</a:t>
                      </a:r>
                      <a:r>
                        <a:rPr lang="pl-PL" sz="2000" b="0" dirty="0"/>
                        <a:t> danych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∼30 min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∼10 min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67931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Walidacja danych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∼30 min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automatyczna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81342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Trening modelu 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∼3 h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automatyczna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6104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algn="l" defTabSz="1007486" rtl="0" eaLnBrk="1" latinLnBrk="0" hangingPunct="1"/>
                      <a:r>
                        <a:rPr lang="pl-PL" sz="2000" dirty="0"/>
                        <a:t>Ocena jakości i decyzja wdrożeniowa</a:t>
                      </a:r>
                      <a:endParaRPr lang="pl-PL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∼15 min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7486" rtl="0" eaLnBrk="1" latinLnBrk="0" hangingPunct="1"/>
                      <a:r>
                        <a:rPr lang="pl-PL" sz="2000" dirty="0"/>
                        <a:t>automatyczna</a:t>
                      </a:r>
                      <a:endParaRPr lang="pl-PL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99187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Wdrożenie</a:t>
                      </a:r>
                      <a:endParaRPr lang="pl-PL" sz="20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∼45 min</a:t>
                      </a:r>
                      <a:endParaRPr lang="pl-PL" sz="20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automatyczna</a:t>
                      </a:r>
                      <a:endParaRPr lang="pl-PL" sz="20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06179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Nakład człowieka łącznie</a:t>
                      </a:r>
                      <a:endParaRPr lang="pl-PL" sz="20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6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∼5 h</a:t>
                      </a:r>
                      <a:endParaRPr lang="pl-PL" sz="20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6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/>
                        <a:t>∼20 min</a:t>
                      </a:r>
                      <a:endParaRPr lang="pl-PL" sz="20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6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9686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Całkowity czas cyklu</a:t>
                      </a:r>
                      <a:endParaRPr lang="pl-PL" sz="2000" b="0" dirty="0"/>
                    </a:p>
                  </a:txBody>
                  <a:tcPr>
                    <a:solidFill>
                      <a:srgbClr val="C9D6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∼5 h</a:t>
                      </a:r>
                      <a:endParaRPr lang="pl-PL" sz="2000" b="0" dirty="0"/>
                    </a:p>
                  </a:txBody>
                  <a:tcPr>
                    <a:solidFill>
                      <a:srgbClr val="C9D6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∼4 h</a:t>
                      </a:r>
                      <a:endParaRPr lang="pl-PL" sz="2000" b="0" dirty="0"/>
                    </a:p>
                  </a:txBody>
                  <a:tcPr>
                    <a:solidFill>
                      <a:srgbClr val="C9D6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1835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4533F8-B467-E6D1-A25E-1D7323D91746}"/>
              </a:ext>
            </a:extLst>
          </p:cNvPr>
          <p:cNvSpPr txBox="1"/>
          <p:nvPr/>
        </p:nvSpPr>
        <p:spPr>
          <a:xfrm>
            <a:off x="740048" y="4930193"/>
            <a:ext cx="11953328" cy="1341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Na podstawie analizy etapów procesu oszacowano nakład pracy człowieka wynoszący około 5 godzin na jeden cykl w podejściu manualnym oraz około 20 minut w pipeline’ie CI/CD, gdzie większość etapów jest automatyczna.</a:t>
            </a:r>
          </a:p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Założono, że </a:t>
            </a:r>
            <a:r>
              <a:rPr lang="pl-PL" sz="2000" b="1" dirty="0">
                <a:solidFill>
                  <a:schemeClr val="tx1"/>
                </a:solidFill>
                <a:latin typeface="+mn-lt"/>
                <a:cs typeface="+mn-cs"/>
              </a:rPr>
              <a:t>utrzymanie procesu manualnego wymaga około 0,2 etatu miesięcznie, a w przypadku automatyzacji spada do około 0,0133 etatu (~93% mniej)</a:t>
            </a: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, przy założeniu 160 godzin pracy miesięcznie.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77219-0986-331F-9DCB-011C984B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E1FA-E253-2AF1-50C2-4D69CF7B2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12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08508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0431-814E-9EDE-562A-D93F2B9A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Analiza kosztów infrastruktury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FED6E5-0064-7692-2D13-159EAA3CF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459733"/>
              </p:ext>
            </p:extLst>
          </p:nvPr>
        </p:nvGraphicFramePr>
        <p:xfrm>
          <a:off x="740048" y="2167447"/>
          <a:ext cx="11953328" cy="1584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3820003045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3077450596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288816355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Liczba cykli/mies.</a:t>
                      </a:r>
                      <a:endParaRPr lang="pl-PL" sz="2000" b="0" dirty="0"/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/>
                        <a:t>Koszt zmienny EC2</a:t>
                      </a:r>
                      <a:endParaRPr lang="pl-PL" sz="2000" b="0" dirty="0"/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/>
                        <a:t>Koszt całkowity</a:t>
                      </a:r>
                      <a:endParaRPr lang="pl-PL" sz="2000" b="0" dirty="0">
                        <a:effectLst>
                          <a:reflection stA="45000" endPos="65000" dist="25400" dir="5400000" sy="-100000" algn="bl" rotWithShape="0"/>
                        </a:effectLst>
                      </a:endParaRPr>
                    </a:p>
                  </a:txBody>
                  <a:tcPr>
                    <a:solidFill>
                      <a:srgbClr val="2B75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6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10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/>
                        <a:t>~ 12 PLN/mies.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~ 24 PLN/mies.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67931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30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~ 35 PLN/mies.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~ 47 PLN/mies.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81342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60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~ 70 PLN/mies.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~ 82 PLN/mies.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610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0220B9-1913-8D4F-62FA-2EB771A33329}"/>
              </a:ext>
            </a:extLst>
          </p:cNvPr>
          <p:cNvSpPr txBox="1"/>
          <p:nvPr/>
        </p:nvSpPr>
        <p:spPr>
          <a:xfrm>
            <a:off x="740048" y="4042845"/>
            <a:ext cx="11953328" cy="16183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Koszt infrastruktury oszacowano na podstawie cennika AWS </a:t>
            </a:r>
            <a:r>
              <a:rPr lang="pl-PL" sz="2000" dirty="0" err="1">
                <a:solidFill>
                  <a:schemeClr val="tx1"/>
                </a:solidFill>
                <a:latin typeface="+mn-lt"/>
                <a:cs typeface="+mn-cs"/>
              </a:rPr>
              <a:t>Price</a:t>
            </a: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 List API. W tabeli rozdzielono koszt EC2, który zależy od czasu treningu modelu, oraz łączny koszt pozostałych usług (EBS, S3, operacje S3, ECR), które generują niewielki, głównie stały koszt miesięczny.</a:t>
            </a:r>
            <a:endParaRPr lang="en-US" dirty="0">
              <a:solidFill>
                <a:schemeClr val="tx1"/>
              </a:solidFill>
            </a:endParaRPr>
          </a:p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Ponieważ całkowity koszt infrastruktury wynosi jedynie 24-82 PLN/</a:t>
            </a:r>
            <a:r>
              <a:rPr lang="pl-PL" sz="2000" b="1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mies</a:t>
            </a:r>
            <a:r>
              <a:rPr lang="pl-PL" sz="20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w dalszej analizie ekonomicznej skupiono się głównie na koszcie pracy inżyniera, który stanowi dominujący składnik kosztów systemu.</a:t>
            </a:r>
            <a:endParaRPr lang="pl-PL" b="1" dirty="0"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D9DD6-603F-D83D-7FC5-2D1078340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F63D4-6802-C445-2DB8-BDB58927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13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76965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0431-814E-9EDE-562A-D93F2B9A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Porównanie ryzyka operacyjnego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FED6E5-0064-7692-2D13-159EAA3CF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110543"/>
              </p:ext>
            </p:extLst>
          </p:nvPr>
        </p:nvGraphicFramePr>
        <p:xfrm>
          <a:off x="740048" y="2167447"/>
          <a:ext cx="11953328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3820003045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3077450596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288816355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pl-PL" sz="2000" b="0" dirty="0"/>
                        <a:t>Obszar ryzyka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Podejście ręczne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CI/CD </a:t>
                      </a:r>
                      <a:endParaRPr lang="pl-PL" sz="2000" b="0" dirty="0">
                        <a:effectLst>
                          <a:reflection stA="45000" endPos="65000" dist="25400" dir="5400000" sy="-100000" algn="bl" rotWithShape="0"/>
                        </a:effectLst>
                      </a:endParaRPr>
                    </a:p>
                  </a:txBody>
                  <a:tcPr>
                    <a:solidFill>
                      <a:srgbClr val="2B75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6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Walidacja danych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zależna od dyscypliny operatora, ryzyko pominięcia błędnych próbek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automatyczna bramka QA blokująca dalszy </a:t>
                      </a:r>
                      <a:r>
                        <a:rPr lang="pl-PL" sz="2000" err="1"/>
                        <a:t>pipeline</a:t>
                      </a:r>
                      <a:r>
                        <a:rPr lang="pl-PL" sz="2000" dirty="0"/>
                        <a:t> 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67931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Decyzja o promocji modelu 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ręczna interpretacja metryk, podatność na presję czasu 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obiektywne kryterium bramki jakości (</a:t>
                      </a:r>
                      <a:r>
                        <a:rPr lang="pl-PL" sz="2000" err="1"/>
                        <a:t>Dice</a:t>
                      </a:r>
                      <a:r>
                        <a:rPr lang="pl-PL" sz="2000" dirty="0"/>
                        <a:t>/</a:t>
                      </a:r>
                      <a:r>
                        <a:rPr lang="pl-PL" sz="2000" err="1"/>
                        <a:t>IoU</a:t>
                      </a:r>
                      <a:r>
                        <a:rPr lang="pl-PL" sz="2000" dirty="0"/>
                        <a:t>) 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81342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Koszt chmury po awarii procesu 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ryzyko pozostawienia uruchomionej </a:t>
                      </a:r>
                      <a:r>
                        <a:rPr lang="pl-PL" sz="2000"/>
                        <a:t>instancji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automatyczne stop-</a:t>
                      </a:r>
                      <a:r>
                        <a:rPr lang="pl-PL" sz="2000" err="1"/>
                        <a:t>infra</a:t>
                      </a:r>
                      <a:r>
                        <a:rPr lang="pl-PL" sz="2000" dirty="0"/>
                        <a:t> po błędzie (</a:t>
                      </a:r>
                      <a:r>
                        <a:rPr lang="pl-PL" sz="2000" err="1"/>
                        <a:t>always</a:t>
                      </a:r>
                      <a:r>
                        <a:rPr lang="pl-PL" sz="2000" dirty="0"/>
                        <a:t>())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6104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dirty="0"/>
                        <a:t>Odtwarzalność eksperymentu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wymaga ręcznej dokumentacji i dyscypliny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/>
                        <a:t>logi </a:t>
                      </a:r>
                      <a:r>
                        <a:rPr lang="pl-PL" sz="2000" dirty="0" err="1"/>
                        <a:t>workflow</a:t>
                      </a:r>
                      <a:r>
                        <a:rPr lang="pl-PL" sz="2000" dirty="0"/>
                        <a:t> + </a:t>
                      </a:r>
                      <a:r>
                        <a:rPr lang="pl-PL" sz="2000" dirty="0" err="1"/>
                        <a:t>MLflow</a:t>
                      </a:r>
                      <a:r>
                        <a:rPr lang="pl-PL" sz="2000" dirty="0"/>
                        <a:t> + DVC zapewniają ślad audytowy 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3963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0220B9-1913-8D4F-62FA-2EB771A33329}"/>
              </a:ext>
            </a:extLst>
          </p:cNvPr>
          <p:cNvSpPr txBox="1"/>
          <p:nvPr/>
        </p:nvSpPr>
        <p:spPr>
          <a:xfrm>
            <a:off x="762567" y="5515252"/>
            <a:ext cx="11953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Automatyzacja CI/CD ogranicza ryzyko błędów ludzkich poprzez wprowadzenie automatycznej walidacji danych, obiektywnej bramki jakości oraz mechanizmów zarządzania infrastrukturą i rejestrowania eksperymentów.</a:t>
            </a:r>
            <a:b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pl-PL" sz="2000" b="1" dirty="0">
                <a:solidFill>
                  <a:schemeClr val="tx1"/>
                </a:solidFill>
                <a:latin typeface="+mn-lt"/>
                <a:cs typeface="+mn-cs"/>
              </a:rPr>
              <a:t>Nie uwzględnienia kosztów wynikających z ryzyka powinno wyrównać pominięcie kosztów infrastruktury.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CC173-2A59-77C5-2609-86C7A1E4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0813D-1639-39A2-0225-2F9C148A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14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0028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0431-814E-9EDE-562A-D93F2B9A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Analiza kosztów pracy inżyniera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FED6E5-0064-7692-2D13-159EAA3CF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970606"/>
              </p:ext>
            </p:extLst>
          </p:nvPr>
        </p:nvGraphicFramePr>
        <p:xfrm>
          <a:off x="740048" y="2167447"/>
          <a:ext cx="11953328" cy="1584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88332">
                  <a:extLst>
                    <a:ext uri="{9D8B030D-6E8A-4147-A177-3AD203B41FA5}">
                      <a16:colId xmlns:a16="http://schemas.microsoft.com/office/drawing/2014/main" val="3820003045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3077450596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1420351119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3288816355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pl-PL" sz="2000" b="0" dirty="0"/>
                        <a:t>Pensja P [PLN/mies.] 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Manualnie 0,2P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CI/CD 0,0133P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Zwrot T</a:t>
                      </a:r>
                      <a:r>
                        <a:rPr lang="pl-PL" sz="1600" b="0" dirty="0">
                          <a:effectLst>
                            <a:reflection stA="45000" endPos="65000" dist="25400" dir="5400000" sy="-100000" algn="bl" rotWithShape="0"/>
                          </a:effectLst>
                        </a:rPr>
                        <a:t>BE</a:t>
                      </a:r>
                      <a:endParaRPr lang="pl-PL" sz="2000" b="0" dirty="0">
                        <a:effectLst>
                          <a:reflection stA="45000" endPos="65000" dist="25400" dir="5400000" sy="-100000" algn="bl" rotWithShape="0"/>
                        </a:effectLst>
                      </a:endParaRPr>
                    </a:p>
                  </a:txBody>
                  <a:tcPr>
                    <a:solidFill>
                      <a:srgbClr val="2B75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6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 dirty="0"/>
                        <a:t>8000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1600 PLN/mies.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106 PLN/mies.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6,69 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67931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 dirty="0"/>
                        <a:t>12000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2400 PLN/mies.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160 PLN/mies.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4,46 mies.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81342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 dirty="0"/>
                        <a:t>16000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3200 PLN/mies. 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213 PLN/mies.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3,35 mies.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610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0220B9-1913-8D4F-62FA-2EB771A33329}"/>
              </a:ext>
            </a:extLst>
          </p:cNvPr>
          <p:cNvSpPr txBox="1"/>
          <p:nvPr/>
        </p:nvSpPr>
        <p:spPr>
          <a:xfrm>
            <a:off x="740048" y="3822811"/>
            <a:ext cx="11953328" cy="286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Analiza kosztów pokazuje, że </a:t>
            </a:r>
            <a:r>
              <a:rPr lang="pl-PL" sz="2000" b="1" dirty="0">
                <a:solidFill>
                  <a:schemeClr val="tx1"/>
                </a:solidFill>
                <a:latin typeface="+mn-lt"/>
                <a:cs typeface="+mn-cs"/>
              </a:rPr>
              <a:t>główną różnicą między podejściem manualnym a zautomatyzowanym jest koszt pracy człowieka</a:t>
            </a: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. W scenariuszu manualnym każdy cykl trenowania i wdrożenia modelu wymaga ok. 5 godzin pracy specjalisty. Przy pensji 8000 PLN miesięcznie oznacza to koszt ok. 1600 PLN miesięcznie (0,2 etatu). W podejściu zautomatyzowanym udział człowieka spada do ok. 20 minut, ponieważ większość etapów realizuje </a:t>
            </a:r>
            <a:r>
              <a:rPr lang="pl-PL" sz="2000" dirty="0" err="1">
                <a:solidFill>
                  <a:schemeClr val="tx1"/>
                </a:solidFill>
                <a:latin typeface="+mn-lt"/>
                <a:cs typeface="+mn-cs"/>
              </a:rPr>
              <a:t>pipeline</a:t>
            </a: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 CI/CD, co obniża koszt do ok. 106 PLN miesięcznie.</a:t>
            </a:r>
          </a:p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Tabela przedstawia także czas zwrotu inwestycji (TBE -Time to Break Even), czyli liczbę miesięcy potrzebnych, aby oszczędności z automatyzacji pokryły jednorazowy koszt przygotowania infrastruktury i pipeline’u (10 000 PLN). </a:t>
            </a:r>
          </a:p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b="1" dirty="0">
                <a:solidFill>
                  <a:schemeClr val="tx1"/>
                </a:solidFill>
                <a:latin typeface="+mn-lt"/>
                <a:cs typeface="+mn-cs"/>
              </a:rPr>
              <a:t>Wyniki wskazują, że inwestycja zwraca się po kilku miesiącach, a wyższe koszty pracy specjalisty dodatkowo skracają ten czas.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3048A-9A7A-945C-A9A4-764B0D20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09.03.2026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2E8AF-2289-E68A-0871-15F93E68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15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550371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0431-814E-9EDE-562A-D93F2B9A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Skalowalność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FED6E5-0064-7692-2D13-159EAA3CF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763503"/>
              </p:ext>
            </p:extLst>
          </p:nvPr>
        </p:nvGraphicFramePr>
        <p:xfrm>
          <a:off x="740048" y="2167447"/>
          <a:ext cx="11953328" cy="1584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3820003045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3077450596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288816355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pl-PL" sz="2000" b="0" dirty="0"/>
                        <a:t>Liczba cykli/mies.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Manualnie (5 h/cykl)</a:t>
                      </a:r>
                    </a:p>
                  </a:txBody>
                  <a:tcPr>
                    <a:solidFill>
                      <a:srgbClr val="2B75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b="0" dirty="0"/>
                        <a:t>CI/CD (20 min/cykl)</a:t>
                      </a:r>
                      <a:endParaRPr lang="pl-PL" sz="2000" b="0" dirty="0">
                        <a:effectLst>
                          <a:reflection stA="45000" endPos="65000" dist="25400" dir="5400000" sy="-100000" algn="bl" rotWithShape="0"/>
                        </a:effectLst>
                      </a:endParaRPr>
                    </a:p>
                  </a:txBody>
                  <a:tcPr>
                    <a:solidFill>
                      <a:srgbClr val="2B75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6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10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50 h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3h 20 min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67931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30</a:t>
                      </a:r>
                      <a:endParaRPr lang="pl-PL" sz="2000" b="0" dirty="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150 h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10 h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81342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pl-PL" sz="2000" b="0"/>
                        <a:t>60</a:t>
                      </a:r>
                      <a:endParaRPr lang="pl-PL" sz="2000" b="0" dirty="0"/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300 h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/>
                        <a:t>20h </a:t>
                      </a:r>
                    </a:p>
                  </a:txBody>
                  <a:tcPr>
                    <a:solidFill>
                      <a:srgbClr val="DD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610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0220B9-1913-8D4F-62FA-2EB771A33329}"/>
              </a:ext>
            </a:extLst>
          </p:cNvPr>
          <p:cNvSpPr txBox="1"/>
          <p:nvPr/>
        </p:nvSpPr>
        <p:spPr>
          <a:xfrm>
            <a:off x="740048" y="4042845"/>
            <a:ext cx="1195332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defTabSz="1006475">
              <a:lnSpc>
                <a:spcPct val="90000"/>
              </a:lnSpc>
              <a:spcBef>
                <a:spcPts val="1100"/>
              </a:spcBef>
            </a:pP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Skalowalność nakładu pracy człowieka przy wzroście liczby cykli potwierdza znaczącą przewagę </a:t>
            </a:r>
            <a:r>
              <a:rPr lang="pl-PL" sz="2000">
                <a:solidFill>
                  <a:schemeClr val="tx1"/>
                </a:solidFill>
                <a:latin typeface="+mn-lt"/>
                <a:cs typeface="+mn-cs"/>
              </a:rPr>
              <a:t>pipeline’u</a:t>
            </a:r>
            <a:r>
              <a:rPr lang="pl-PL" sz="2000" dirty="0">
                <a:solidFill>
                  <a:schemeClr val="tx1"/>
                </a:solidFill>
                <a:latin typeface="+mn-lt"/>
                <a:cs typeface="+mn-cs"/>
              </a:rPr>
              <a:t> CI/CD</a:t>
            </a:r>
            <a:r>
              <a:rPr lang="pl-PL" sz="1600" dirty="0">
                <a:latin typeface="Arial"/>
                <a:cs typeface="Arial"/>
              </a:rPr>
              <a:t>.</a:t>
            </a:r>
            <a:endParaRPr lang="pl-PL"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A4BC0-1CE3-6EEA-40C9-5F9F82C3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C4BD7-A3DC-5349-633F-E4DEE9D5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16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225042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429D-5DC9-1D83-38D2-B83A4091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Wnioski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8F8AB-B222-A253-4B4F-4550D9A45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2011363"/>
            <a:ext cx="11325421" cy="479425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pl-PL" sz="2000" b="1" dirty="0">
                <a:ea typeface="Calibri"/>
                <a:cs typeface="Calibri"/>
              </a:rPr>
              <a:t>Model osiągnął wysoką jakość segmentacji </a:t>
            </a:r>
            <a:r>
              <a:rPr lang="pl-PL" sz="2000" dirty="0">
                <a:ea typeface="Calibri"/>
                <a:cs typeface="Calibri"/>
              </a:rPr>
              <a:t>- współczynnik </a:t>
            </a:r>
            <a:r>
              <a:rPr lang="pl-PL" sz="2000" dirty="0" err="1">
                <a:ea typeface="Calibri"/>
                <a:cs typeface="Calibri"/>
              </a:rPr>
              <a:t>Dice</a:t>
            </a:r>
            <a:r>
              <a:rPr lang="pl-PL" sz="2000" dirty="0">
                <a:ea typeface="Calibri"/>
                <a:cs typeface="Calibri"/>
              </a:rPr>
              <a:t> 0,81 i </a:t>
            </a:r>
            <a:r>
              <a:rPr lang="pl-PL" sz="2000" dirty="0" err="1">
                <a:ea typeface="Calibri"/>
                <a:cs typeface="Calibri"/>
              </a:rPr>
              <a:t>IoU</a:t>
            </a:r>
            <a:r>
              <a:rPr lang="pl-PL" sz="2000" dirty="0">
                <a:ea typeface="Calibri"/>
                <a:cs typeface="Calibri"/>
              </a:rPr>
              <a:t> 0,74 potwierdzają skuteczność wytrenowanego modelu U-Net</a:t>
            </a:r>
            <a:endParaRPr lang="pl-PL" sz="2000" b="1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pl-PL" sz="2000" b="1" dirty="0"/>
              <a:t>Automatyzacja znacząco redukuje nakład pracy </a:t>
            </a:r>
            <a:r>
              <a:rPr lang="pl-PL" sz="2000" dirty="0"/>
              <a:t>- czas zaangażowania inżyniera został zredukowany z ~5 godzin do ~20 minut na cykl treningu i wdrożenia (poprawa 93%)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pl-PL" sz="2000" b="1" dirty="0"/>
              <a:t>Inwestycja zwraca się w ciągu kilku miesięcy </a:t>
            </a:r>
            <a:r>
              <a:rPr lang="pl-PL" sz="2000" dirty="0"/>
              <a:t>- koszt pracy spada z ~1600 zł do ~106 zł miesięcznie przy jednorazowym koszcie wdrożenia 10 000 zł.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b="1" dirty="0"/>
              <a:t>Pipeline CI/CD zapewnia powtarzalność i kontrolę jakości </a:t>
            </a:r>
            <a:r>
              <a:rPr lang="pl-PL" sz="2000" dirty="0"/>
              <a:t>- bramka jakości automatycznie odrzuca modele niespełniające progów, eliminując ryzyko ludzkich błędów</a:t>
            </a:r>
            <a:endParaRPr lang="pl-PL" sz="2000" dirty="0">
              <a:ea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pl-PL" sz="2000" b="1" dirty="0"/>
              <a:t>Podejście DevOps/MLOps jest skalowalne </a:t>
            </a:r>
            <a:r>
              <a:rPr lang="pl-PL" sz="2000" dirty="0"/>
              <a:t>- zaprojektowany system można rozszerzyć na inne modele AI bez istotnych zmian w infrastrukturze</a:t>
            </a:r>
          </a:p>
          <a:p>
            <a:pPr marL="0" indent="0">
              <a:buNone/>
            </a:pPr>
            <a:endParaRPr lang="pl-PL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2F42A-A166-3389-AC20-8E96E998C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E12C4-93EE-1B7F-41EF-DF1FD831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8E1DF-44FC-45AD-8826-7161C511640C}" type="slidenum">
              <a:rPr lang="en-US" altLang="pl-PL" smtClean="0"/>
              <a:pPr>
                <a:defRPr/>
              </a:pPr>
              <a:t>17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6775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A0D47-00EC-0ACA-3C44-03068FEDE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latin typeface="Adobe Hebrew" panose="02040503050201020203" pitchFamily="18" charset="-79"/>
                <a:cs typeface="Adobe Hebrew" panose="02040503050201020203" pitchFamily="18" charset="-79"/>
              </a:rPr>
              <a:t>Dziękuję za uwagę</a:t>
            </a:r>
            <a:endParaRPr lang="pl-P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9A1572-F3D7-7B23-C6EC-37644555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09.03.2026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34B87-02E7-A2B2-48F5-AEB66C7A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DC44BC-21C4-40BD-A168-90F6E7CE34B8}" type="slidenum">
              <a:rPr lang="en-US" altLang="pl-PL" smtClean="0"/>
              <a:pPr>
                <a:defRPr/>
              </a:pPr>
              <a:t>18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29172862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3E0C5E92C274499576E1B13C8ED110" ma:contentTypeVersion="15" ma:contentTypeDescription="Utwórz nowy dokument." ma:contentTypeScope="" ma:versionID="3b68a6eb22214f9e202054ace3579386">
  <xsd:schema xmlns:xsd="http://www.w3.org/2001/XMLSchema" xmlns:xs="http://www.w3.org/2001/XMLSchema" xmlns:p="http://schemas.microsoft.com/office/2006/metadata/properties" xmlns:ns3="e0324670-5a30-4a82-9f4a-3ec047b6efa7" xmlns:ns4="cb2fda98-091b-466d-92a5-bc28a7b73a74" targetNamespace="http://schemas.microsoft.com/office/2006/metadata/properties" ma:root="true" ma:fieldsID="9b1187d67ab0bb63f8c1f8b4fa2de39c" ns3:_="" ns4:_="">
    <xsd:import namespace="e0324670-5a30-4a82-9f4a-3ec047b6efa7"/>
    <xsd:import namespace="cb2fda98-091b-466d-92a5-bc28a7b73a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24670-5a30-4a82-9f4a-3ec047b6ef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2fda98-091b-466d-92a5-bc28a7b73a7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324670-5a30-4a82-9f4a-3ec047b6efa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74ABC0-0DB9-4CFD-9914-216B394AF5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324670-5a30-4a82-9f4a-3ec047b6efa7"/>
    <ds:schemaRef ds:uri="cb2fda98-091b-466d-92a5-bc28a7b73a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3967EF-5F4D-4A0D-B53D-09968788D5DE}">
  <ds:schemaRefs>
    <ds:schemaRef ds:uri="cb2fda98-091b-466d-92a5-bc28a7b73a74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0324670-5a30-4a82-9f4a-3ec047b6efa7"/>
  </ds:schemaRefs>
</ds:datastoreItem>
</file>

<file path=customXml/itemProps3.xml><?xml version="1.0" encoding="utf-8"?>
<ds:datastoreItem xmlns:ds="http://schemas.openxmlformats.org/officeDocument/2006/customXml" ds:itemID="{3BBCA6DE-23B5-43F8-8506-4390BBE6DE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1121</Words>
  <Application>Microsoft Office PowerPoint</Application>
  <PresentationFormat>Custom</PresentationFormat>
  <Paragraphs>179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Adobe Hebrew</vt:lpstr>
      <vt:lpstr>Arial</vt:lpstr>
      <vt:lpstr>Calibri</vt:lpstr>
      <vt:lpstr>Calibri Light</vt:lpstr>
      <vt:lpstr>Helvetica Neue</vt:lpstr>
      <vt:lpstr>Blank Presentation - Default</vt:lpstr>
      <vt:lpstr>Blank Presentation</vt:lpstr>
      <vt:lpstr>PowerPoint Presentation</vt:lpstr>
      <vt:lpstr>Problematyka i cel pracy</vt:lpstr>
      <vt:lpstr>Wykonanie</vt:lpstr>
      <vt:lpstr>Model sztucznej inteligencji</vt:lpstr>
      <vt:lpstr>Architektura systemu</vt:lpstr>
      <vt:lpstr>Pipeline CI/CD dla modeli AI</vt:lpstr>
      <vt:lpstr>Pipeline CI/CD – Udany trening</vt:lpstr>
      <vt:lpstr>Pipeline CI/CD – Pull request</vt:lpstr>
      <vt:lpstr>Pipeline CI/CD – Aplikacja</vt:lpstr>
      <vt:lpstr>Wyniki i wnioski</vt:lpstr>
      <vt:lpstr>Ocena jakości najlepszego modelu</vt:lpstr>
      <vt:lpstr>Porównanie wymaganej pracy</vt:lpstr>
      <vt:lpstr>Analiza kosztów infrastruktury</vt:lpstr>
      <vt:lpstr>Porównanie ryzyka operacyjnego</vt:lpstr>
      <vt:lpstr>Analiza kosztów pracy inżyniera</vt:lpstr>
      <vt:lpstr>Skalowalność</vt:lpstr>
      <vt:lpstr>Wnioski</vt:lpstr>
      <vt:lpstr>Dziękuję za uwagę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Maciek</dc:creator>
  <cp:lastModifiedBy>Rafał Zabłotni</cp:lastModifiedBy>
  <cp:revision>62</cp:revision>
  <dcterms:modified xsi:type="dcterms:W3CDTF">2026-03-09T09:11:09Z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0x0101000D3E0C5E92C274499576E1B13C8ED110</vt:lpwstr>
  </property>
</Properties>
</file>